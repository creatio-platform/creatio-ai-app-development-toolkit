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920240"/>
            <a:ext cx="5120640" cy="512064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566160"/>
            <a:ext cx="3840480" cy="3840480"/>
          </a:xfrm>
          <a:prstGeom prst="ellipse">
            <a:avLst/>
          </a:prstGeom>
          <a:solidFill>
            <a:srgbClr val="F59E0B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АРХІТЕКТУРНЕ РІШЕННЯ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18288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 → Freedom UI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66928" y="29260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Автоматизована міграція кастомізацій клієнта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66928" y="4114800"/>
            <a:ext cx="2651760" cy="54864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14300" dist="38100" dir="5400000">
              <a:srgbClr val="0E2A47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41148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Скіл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355848" y="4114800"/>
            <a:ext cx="2651760" cy="548640"/>
          </a:xfrm>
          <a:prstGeom prst="roundRect">
            <a:avLst>
              <a:gd name="adj" fmla="val 50000"/>
            </a:avLst>
          </a:prstGeom>
          <a:solidFill>
            <a:srgbClr val="12879B"/>
          </a:solidFill>
          <a:ln/>
          <a:effectLst>
            <a:outerShdw sx="100000" sy="100000" kx="0" ky="0" algn="bl" rotWithShape="0" blurRad="114300" dist="38100" dir="5400000">
              <a:srgbClr val="0E2A47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55848" y="41148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MCP-тули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144768" y="4114800"/>
            <a:ext cx="2651760" cy="54864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14300" dist="38100" dir="5400000">
              <a:srgbClr val="0E2A47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44768" y="41148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Детермінований рушій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66928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підтверджено на живому стенді  ·  план Ф0–Ф6  ·  2026-07-09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Навіщо і для кого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6492240" cy="4846320"/>
          </a:xfrm>
          <a:prstGeom prst="roundRect">
            <a:avLst>
              <a:gd name="adj" fmla="val 1698"/>
            </a:avLst>
          </a:prstGeom>
          <a:solidFill>
            <a:srgbClr val="F3F6FA"/>
          </a:solidFill>
          <a:ln/>
          <a:effectLst>
            <a:outerShdw sx="100000" sy="100000" kx="0" ky="0" algn="bl" rotWithShape="0" blurRad="114300" dist="38100" dir="5400000">
              <a:srgbClr val="0E2A47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86968" y="1691640"/>
            <a:ext cx="58521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C7293"/>
                </a:solidFill>
              </a:rPr>
              <a:t>Для кого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50" dirty="0">
                <a:solidFill>
                  <a:srgbClr val="1E293B"/>
                </a:solidFill>
              </a:rPr>
              <a:t>Клієнти Creatio, які роками нашаровували кастомізації на Classic UI у власних пакетах і переходять на Freedom UI.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E4572E"/>
                </a:solidFill>
              </a:rPr>
              <a:t>Проблема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50" dirty="0">
                <a:solidFill>
                  <a:srgbClr val="1E293B"/>
                </a:solidFill>
              </a:rPr>
              <a:t>Ручний перенос layout + бізнес-логіки:</a:t>
            </a:r>
            <a:endParaRPr lang="en-US" sz="1600" dirty="0"/>
          </a:p>
          <a:p>
            <a:pPr lvl="1" marL="685800" indent="-342900"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</a:rPr>
              <a:t>повільний</a:t>
            </a:r>
            <a:endParaRPr lang="en-US" sz="1600" dirty="0"/>
          </a:p>
          <a:p>
            <a:pPr lvl="1" marL="685800" indent="-342900"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</a:rPr>
              <a:t>помилковий (легко загубити поля/правила)</a:t>
            </a:r>
            <a:endParaRPr lang="en-US" sz="1600" dirty="0"/>
          </a:p>
          <a:p>
            <a:pPr lvl="1" marL="685800" indent="-342900"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</a:rPr>
              <a:t>невідтворюваний — клієнт не бачить, що змінив відносно бази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0" y="1417320"/>
            <a:ext cx="4297680" cy="2788920"/>
          </a:xfrm>
          <a:prstGeom prst="roundRect">
            <a:avLst>
              <a:gd name="adj" fmla="val 2951"/>
            </a:avLst>
          </a:prstGeom>
          <a:solidFill>
            <a:srgbClr val="0E2A47"/>
          </a:solidFill>
          <a:ln/>
          <a:effectLst>
            <a:outerShdw sx="100000" sy="100000" kx="0" ky="0" algn="bl" rotWithShape="0" blurRad="114300" dist="38100" dir="5400000">
              <a:srgbClr val="0E2A47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0" y="17830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≈142 000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7543800" y="274320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токенів LLM, щоб проаналізувати ОДНУ складну сторінку вручну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0" y="4389120"/>
            <a:ext cx="4297680" cy="1874520"/>
          </a:xfrm>
          <a:prstGeom prst="roundRect">
            <a:avLst>
              <a:gd name="adj" fmla="val 4390"/>
            </a:avLst>
          </a:prstGeom>
          <a:solidFill>
            <a:srgbClr val="F3F6FA"/>
          </a:solidFill>
          <a:ln/>
          <a:effectLst>
            <a:outerShdw sx="100000" sy="100000" kx="0" ky="0" algn="bl" rotWithShape="0" blurRad="114300" dist="38100" dir="5400000">
              <a:srgbClr val="0E2A47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589520" y="4572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635240" y="502920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7635240" y="5029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01000" y="50017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Швидко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35240" y="5413248"/>
            <a:ext cx="256032" cy="256032"/>
          </a:xfrm>
          <a:prstGeom prst="ellipse">
            <a:avLst/>
          </a:prstGeom>
          <a:solidFill>
            <a:srgbClr val="12879B"/>
          </a:solidFill>
          <a:ln/>
        </p:spPr>
      </p:sp>
      <p:sp>
        <p:nvSpPr>
          <p:cNvPr id="15" name="Text 13"/>
          <p:cNvSpPr/>
          <p:nvPr/>
        </p:nvSpPr>
        <p:spPr>
          <a:xfrm>
            <a:off x="7635240" y="5413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01000" y="538581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Коректно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635240" y="5797296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7635240" y="57972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01000" y="576986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Масштабовано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КОНЦЕПТ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Рішення в одному реченні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11064240" cy="1737360"/>
          </a:xfrm>
          <a:prstGeom prst="roundRect">
            <a:avLst>
              <a:gd name="adj" fmla="val 4737"/>
            </a:avLst>
          </a:prstGeom>
          <a:solidFill>
            <a:srgbClr val="0E2A47"/>
          </a:solidFill>
          <a:ln/>
          <a:effectLst>
            <a:outerShdw sx="100000" sy="100000" kx="0" ky="0" algn="bl" rotWithShape="0" blurRad="114300" dist="38100" dir="5400000">
              <a:srgbClr val="0E2A47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24128" y="146304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«Програма готує чернетку майже готової Freedom-сторінки — а агент доробляє лише спірні місця й затверджує.»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361188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F3F6FA"/>
          </a:solidFill>
          <a:ln/>
          <a:effectLst>
            <a:outerShdw sx="100000" sy="100000" kx="0" ky="0" algn="bl" rotWithShape="0" blurRad="114300" dist="38100" dir="5400000">
              <a:srgbClr val="0E2A47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385876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3858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27048" y="39044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Скіл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41248" y="4526280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Покроковий workflow з approval-gate та живою документацією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279392" y="361188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F3F6FA"/>
          </a:solidFill>
          <a:ln/>
          <a:effectLst>
            <a:outerShdw sx="100000" sy="100000" kx="0" ky="0" algn="bl" rotWithShape="0" blurRad="114300" dist="38100" dir="5400000">
              <a:srgbClr val="0E2A47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53712" y="3858768"/>
            <a:ext cx="566928" cy="566928"/>
          </a:xfrm>
          <a:prstGeom prst="ellipse">
            <a:avLst/>
          </a:prstGeom>
          <a:solidFill>
            <a:srgbClr val="12879B"/>
          </a:solidFill>
          <a:ln/>
        </p:spPr>
      </p:sp>
      <p:sp>
        <p:nvSpPr>
          <p:cNvPr id="13" name="Text 11"/>
          <p:cNvSpPr/>
          <p:nvPr/>
        </p:nvSpPr>
        <p:spPr>
          <a:xfrm>
            <a:off x="4553712" y="3858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239512" y="39044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MCP-тули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53712" y="4526280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Читають повну Classic-схему зі стенду клієнта (по UId)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991856" y="361188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F3F6FA"/>
          </a:solidFill>
          <a:ln/>
          <a:effectLst>
            <a:outerShdw sx="100000" sy="100000" kx="0" ky="0" algn="bl" rotWithShape="0" blurRad="114300" dist="38100" dir="5400000">
              <a:srgbClr val="0E2A47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66176" y="3858768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8266176" y="3858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951976" y="39044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Детермінований рушій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66176" y="4526280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шарів + переклад у Freedom (код, не LLM)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КЛЮЧОВЕ РІШЕННЯ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Детермінований рушій + судження агента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6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Механічну роботу робить код — швидко й однаково. Агент витрачає «розум» лише там, де є вибір.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5486400" cy="4297680"/>
          </a:xfrm>
          <a:prstGeom prst="roundRect">
            <a:avLst>
              <a:gd name="adj" fmla="val 1915"/>
            </a:avLst>
          </a:prstGeom>
          <a:solidFill>
            <a:srgbClr val="F3F6FA"/>
          </a:solidFill>
          <a:ln/>
          <a:effectLst>
            <a:outerShdw sx="100000" sy="100000" kx="0" ky="0" algn="bl" rotWithShape="0" blurRad="114300" dist="38100" dir="5400000">
              <a:srgbClr val="0E2A47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6968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Детерміновано  (код / MCP-тули)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6968" y="2377440"/>
            <a:ext cx="49377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читання шарів по UId; merge у ефективну сторінку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резолв графа ролей сторінок + рекурсія деталей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класифікація пакетів (editable за InstallType)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control-type → Freedom-компонент; 3-частинні diff полів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деталь → повний композит; правила + зворотні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валідація / read-back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532120" cy="4297680"/>
          </a:xfrm>
          <a:prstGeom prst="roundRect">
            <a:avLst>
              <a:gd name="adj" fmla="val 1915"/>
            </a:avLst>
          </a:prstGeom>
          <a:solidFill>
            <a:srgbClr val="0E2A47"/>
          </a:solidFill>
          <a:ln/>
          <a:effectLst>
            <a:outerShdw sx="100000" sy="100000" kx="0" ky="0" algn="bl" rotWithShape="0" blurRad="114300" dist="38100" dir="5400000">
              <a:srgbClr val="0E2A47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Судження  (агент / LLM)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2377440"/>
            <a:ext cx="49377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</a:rPr>
              <a:t>неоднозначний мапінг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</a:rPr>
              <a:t>звірка бази при reconcile (що навмисне різне)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</a:rPr>
              <a:t>кастомні компоненти → пропозиція аналога + запит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</a:rPr>
              <a:t>складна логіка, що не лягає в правило → handler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</a:rPr>
              <a:t>видалення базового елемента (лише за доказом)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</a:rPr>
              <a:t>UX-полірування та approval-взаємодія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66928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6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Чому: merge однієї сторінки ≈142k токенів; формат запису Freedom механічний і крихкий → це робота коду.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базових принципів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440680" cy="1097280"/>
          </a:xfrm>
          <a:prstGeom prst="roundRect">
            <a:avLst>
              <a:gd name="adj" fmla="val 7500"/>
            </a:avLst>
          </a:prstGeom>
          <a:solidFill>
            <a:srgbClr val="F3F6FA"/>
          </a:solidFill>
          <a:ln/>
          <a:effectLst>
            <a:outerShdw sx="100000" sy="100000" kx="0" ky="0" algn="bl" rotWithShape="0" blurRad="114300" dist="38100" dir="5400000">
              <a:srgbClr val="0E2A4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1965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196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27048" y="168249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Сторінка на кожну роль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527048" y="2029968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66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entity → list / record / типізовані / add-mini / lookup. Не схлопуємо, не дублюємо наявну.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6190488" y="1554480"/>
            <a:ext cx="5440680" cy="1097280"/>
          </a:xfrm>
          <a:prstGeom prst="roundRect">
            <a:avLst>
              <a:gd name="adj" fmla="val 7500"/>
            </a:avLst>
          </a:prstGeom>
          <a:solidFill>
            <a:srgbClr val="E9EFF6"/>
          </a:solidFill>
          <a:ln/>
          <a:effectLst>
            <a:outerShdw sx="100000" sy="100000" kx="0" ky="0" algn="bl" rotWithShape="0" blurRad="114300" dist="38100" dir="5400000">
              <a:srgbClr val="0E2A47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819656"/>
            <a:ext cx="566928" cy="566928"/>
          </a:xfrm>
          <a:prstGeom prst="ellipse">
            <a:avLst/>
          </a:prstGeom>
          <a:solidFill>
            <a:srgbClr val="12879B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8196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50608" y="168249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Повна ефективна сторінка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150608" y="2029968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66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Переносимо base + усі шари клієнта разом (не лише дельту). Читаємо всі шари → зливаємо.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566928" y="2788920"/>
            <a:ext cx="5440680" cy="1097280"/>
          </a:xfrm>
          <a:prstGeom prst="roundRect">
            <a:avLst>
              <a:gd name="adj" fmla="val 7500"/>
            </a:avLst>
          </a:prstGeom>
          <a:solidFill>
            <a:srgbClr val="F3F6FA"/>
          </a:solidFill>
          <a:ln/>
          <a:effectLst>
            <a:outerShdw sx="100000" sy="100000" kx="0" ky="0" algn="bl" rotWithShape="0" blurRad="114300" dist="38100" dir="5400000">
              <a:srgbClr val="0E2A47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054096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054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27048" y="291693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= InstallType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527048" y="3264408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66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Редагованість пакета — за SysPackage.Maintainer/lock, не за іменем. Зміни лише туди.</a:t>
            </a:r>
            <a:endParaRPr lang="en-US" sz="1230" dirty="0"/>
          </a:p>
        </p:txBody>
      </p:sp>
      <p:sp>
        <p:nvSpPr>
          <p:cNvPr id="19" name="Shape 17"/>
          <p:cNvSpPr/>
          <p:nvPr/>
        </p:nvSpPr>
        <p:spPr>
          <a:xfrm>
            <a:off x="6190488" y="2788920"/>
            <a:ext cx="5440680" cy="1097280"/>
          </a:xfrm>
          <a:prstGeom prst="roundRect">
            <a:avLst>
              <a:gd name="adj" fmla="val 7500"/>
            </a:avLst>
          </a:prstGeom>
          <a:solidFill>
            <a:srgbClr val="E9EFF6"/>
          </a:solidFill>
          <a:ln/>
          <a:effectLst>
            <a:outerShdw sx="100000" sy="100000" kx="0" ky="0" algn="bl" rotWithShape="0" blurRad="114300" dist="38100" dir="5400000">
              <a:srgbClr val="0E2A47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3054096"/>
            <a:ext cx="566928" cy="56692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3054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50608" y="291693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Джерело — стенд клієнта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150608" y="3264408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66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Пакети на стенді (не git). На аналізі — жодних записів.</a:t>
            </a:r>
            <a:endParaRPr lang="en-US" sz="1230" dirty="0"/>
          </a:p>
        </p:txBody>
      </p:sp>
      <p:sp>
        <p:nvSpPr>
          <p:cNvPr id="24" name="Shape 22"/>
          <p:cNvSpPr/>
          <p:nvPr/>
        </p:nvSpPr>
        <p:spPr>
          <a:xfrm>
            <a:off x="566928" y="4023360"/>
            <a:ext cx="5440680" cy="1097280"/>
          </a:xfrm>
          <a:prstGeom prst="roundRect">
            <a:avLst>
              <a:gd name="adj" fmla="val 7500"/>
            </a:avLst>
          </a:prstGeom>
          <a:solidFill>
            <a:srgbClr val="F3F6FA"/>
          </a:solidFill>
          <a:ln/>
          <a:effectLst>
            <a:outerShdw sx="100000" sy="100000" kx="0" ky="0" algn="bl" rotWithShape="0" blurRad="114300" dist="38100" dir="5400000">
              <a:srgbClr val="0E2A47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4288536"/>
            <a:ext cx="566928" cy="566928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2885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527048" y="415137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Рекурсія деталей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1527048" y="4498848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66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Деталь = грід + власна схема + сторінки (edit/mini). Мігруємо транзитивно.</a:t>
            </a:r>
            <a:endParaRPr lang="en-US" sz="12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Що покриваємо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520440" cy="4572000"/>
          </a:xfrm>
          <a:prstGeom prst="roundRect">
            <a:avLst>
              <a:gd name="adj" fmla="val 2338"/>
            </a:avLst>
          </a:prstGeom>
          <a:solidFill>
            <a:srgbClr val="F3F6FA"/>
          </a:solidFill>
          <a:ln/>
          <a:effectLst>
            <a:outerShdw sx="100000" sy="100000" kx="0" ky="0" algn="bl" rotWithShape="0" blurRad="114300" dist="38100" dir="5400000">
              <a:srgbClr val="0E2A4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554480"/>
            <a:ext cx="3520440" cy="640080"/>
          </a:xfrm>
          <a:prstGeom prst="roundRect">
            <a:avLst>
              <a:gd name="adj" fmla="val 12857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5544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Обсяг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2377440"/>
            <a:ext cx="30175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1E293B"/>
                </a:solidFill>
              </a:rPr>
              <a:t>одна одиниця (усі ролі + деталі рекурсивно)</a:t>
            </a:r>
            <a:endParaRPr lang="en-US" sz="128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1E293B"/>
                </a:solidFill>
              </a:rPr>
              <a:t>пакет / застосунок цілком</a:t>
            </a:r>
            <a:endParaRPr lang="en-US" sz="128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1E293B"/>
                </a:solidFill>
              </a:rPr>
              <a:t>Freedom-аналог є → reconcile (звірка бази → дельта)</a:t>
            </a:r>
            <a:endParaRPr lang="en-US" sz="128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1E293B"/>
                </a:solidFill>
              </a:rPr>
              <a:t>аналога немає → build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4279392" y="1554480"/>
            <a:ext cx="3520440" cy="4572000"/>
          </a:xfrm>
          <a:prstGeom prst="roundRect">
            <a:avLst>
              <a:gd name="adj" fmla="val 2338"/>
            </a:avLst>
          </a:prstGeom>
          <a:solidFill>
            <a:srgbClr val="F3F6FA"/>
          </a:solidFill>
          <a:ln/>
          <a:effectLst>
            <a:outerShdw sx="100000" sy="100000" kx="0" ky="0" algn="bl" rotWithShape="0" blurRad="114300" dist="38100" dir="5400000">
              <a:srgbClr val="0E2A47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79392" y="1554480"/>
            <a:ext cx="3520440" cy="640080"/>
          </a:xfrm>
          <a:prstGeom prst="roundRect">
            <a:avLst>
              <a:gd name="adj" fmla="val 12857"/>
            </a:avLst>
          </a:prstGeom>
          <a:solidFill>
            <a:srgbClr val="12879B"/>
          </a:solidFill>
          <a:ln/>
        </p:spPr>
      </p:sp>
      <p:sp>
        <p:nvSpPr>
          <p:cNvPr id="10" name="Text 8"/>
          <p:cNvSpPr/>
          <p:nvPr/>
        </p:nvSpPr>
        <p:spPr>
          <a:xfrm>
            <a:off x="4279392" y="15544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Елементи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53712" y="2377440"/>
            <a:ext cx="30175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1E293B"/>
                </a:solidFill>
              </a:rPr>
              <a:t>поля (усі типи)</a:t>
            </a:r>
            <a:endParaRPr lang="en-US" sz="128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1E293B"/>
                </a:solidFill>
              </a:rPr>
              <a:t>деталі + їхні сторінки</a:t>
            </a:r>
            <a:endParaRPr lang="en-US" sz="128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1E293B"/>
                </a:solidFill>
              </a:rPr>
              <a:t>layout · декларативні правила</a:t>
            </a:r>
            <a:endParaRPr lang="en-US" sz="128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1E293B"/>
                </a:solidFill>
              </a:rPr>
              <a:t>імперативна логіка · кнопки/дії</a:t>
            </a:r>
            <a:endParaRPr lang="en-US" sz="128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1E293B"/>
                </a:solidFill>
              </a:rPr>
              <a:t>компоненти (графіки/метрики)</a:t>
            </a:r>
            <a:endParaRPr lang="en-US" sz="128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1E293B"/>
                </a:solidFill>
              </a:rPr>
              <a:t>кастомні → аналог + рішення користувача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7991856" y="1554480"/>
            <a:ext cx="3520440" cy="4572000"/>
          </a:xfrm>
          <a:prstGeom prst="roundRect">
            <a:avLst>
              <a:gd name="adj" fmla="val 2338"/>
            </a:avLst>
          </a:prstGeom>
          <a:solidFill>
            <a:srgbClr val="F3F6FA"/>
          </a:solidFill>
          <a:ln/>
          <a:effectLst>
            <a:outerShdw sx="100000" sy="100000" kx="0" ky="0" algn="bl" rotWithShape="0" blurRad="114300" dist="38100" dir="5400000">
              <a:srgbClr val="0E2A47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991856" y="1554480"/>
            <a:ext cx="3520440" cy="640080"/>
          </a:xfrm>
          <a:prstGeom prst="roundRect">
            <a:avLst>
              <a:gd name="adj" fmla="val 12857"/>
            </a:avLst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7991856" y="15544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Розміщення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66176" y="2377440"/>
            <a:ext cx="30175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1E293B"/>
                </a:solidFill>
              </a:rPr>
              <a:t>є editable-пакет клієнта → replacing туди</a:t>
            </a:r>
            <a:endParaRPr lang="en-US" sz="128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1E293B"/>
                </a:solidFill>
              </a:rPr>
              <a:t>лише locked → новий пакет</a:t>
            </a:r>
            <a:endParaRPr lang="en-US" sz="128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1E293B"/>
                </a:solidFill>
              </a:rPr>
              <a:t>багатошаровість → повний ефективний вигляд</a:t>
            </a:r>
            <a:endParaRPr lang="en-US" sz="12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ОГЛЯД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Архітектура рішення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14300" dist="38100" dir="5400000">
              <a:srgbClr val="0E2A47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417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560320" y="1371600"/>
            <a:ext cx="310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6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852928" y="141732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12879B"/>
          </a:solidFill>
          <a:ln/>
          <a:effectLst>
            <a:outerShdw sx="100000" sy="100000" kx="0" ky="0" algn="bl" rotWithShape="0" blurRad="114300" dist="38100" dir="5400000">
              <a:srgbClr val="0E2A47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52928" y="1417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846320" y="1371600"/>
            <a:ext cx="310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6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138928" y="141732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14300" dist="38100" dir="5400000">
              <a:srgbClr val="0E2A47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38928" y="1417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32320" y="1371600"/>
            <a:ext cx="310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6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7424928" y="141732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12879B"/>
          </a:solidFill>
          <a:ln/>
          <a:effectLst>
            <a:outerShdw sx="100000" sy="100000" kx="0" ky="0" algn="bl" rotWithShape="0" blurRad="114300" dist="38100" dir="5400000">
              <a:srgbClr val="0E2A47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24928" y="1417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418320" y="1371600"/>
            <a:ext cx="310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6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710928" y="141732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14300" dist="38100" dir="5400000">
              <a:srgbClr val="0E2A47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710928" y="1417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66928" y="2286000"/>
            <a:ext cx="11064240" cy="676656"/>
          </a:xfrm>
          <a:prstGeom prst="roundRect">
            <a:avLst>
              <a:gd name="adj" fmla="val 12162"/>
            </a:avLst>
          </a:prstGeom>
          <a:solidFill>
            <a:srgbClr val="F3F6FA"/>
          </a:solidFill>
          <a:ln/>
          <a:effectLst>
            <a:outerShdw sx="100000" sy="100000" kx="0" ky="0" algn="bl" rotWithShape="0" blurRad="114300" dist="38100" dir="5400000">
              <a:srgbClr val="0E2A47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244144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1298448" y="2286000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Read / Discovery (MCP-тули)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596128" y="2286000"/>
            <a:ext cx="5852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66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повне тіло Classic-схеми зі стенду по UId → структурована модель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566928" y="3072384"/>
            <a:ext cx="11064240" cy="676656"/>
          </a:xfrm>
          <a:prstGeom prst="roundRect">
            <a:avLst>
              <a:gd name="adj" fmla="val 12162"/>
            </a:avLst>
          </a:prstGeom>
          <a:solidFill>
            <a:srgbClr val="E9EFF6"/>
          </a:solidFill>
          <a:ln/>
          <a:effectLst>
            <a:outerShdw sx="100000" sy="100000" kx="0" ky="0" algn="bl" rotWithShape="0" blurRad="114300" dist="38100" dir="5400000">
              <a:srgbClr val="0E2A47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3227832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1298448" y="3072384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Детермінований рушій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596128" y="3072384"/>
            <a:ext cx="5852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66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шарів + graph-resolver + mapper (Classic → Freedom diff)</a:t>
            </a:r>
            <a:endParaRPr lang="en-US" sz="1280" dirty="0"/>
          </a:p>
        </p:txBody>
      </p:sp>
      <p:sp>
        <p:nvSpPr>
          <p:cNvPr id="26" name="Shape 24"/>
          <p:cNvSpPr/>
          <p:nvPr/>
        </p:nvSpPr>
        <p:spPr>
          <a:xfrm>
            <a:off x="566928" y="3858768"/>
            <a:ext cx="11064240" cy="676656"/>
          </a:xfrm>
          <a:prstGeom prst="roundRect">
            <a:avLst>
              <a:gd name="adj" fmla="val 12162"/>
            </a:avLst>
          </a:prstGeom>
          <a:solidFill>
            <a:srgbClr val="F3F6FA"/>
          </a:solidFill>
          <a:ln/>
          <a:effectLst>
            <a:outerShdw sx="100000" sy="100000" kx="0" ky="0" algn="bl" rotWithShape="0" blurRad="114300" dist="38100" dir="5400000">
              <a:srgbClr val="0E2A47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1520" y="4014216"/>
            <a:ext cx="365760" cy="365760"/>
          </a:xfrm>
          <a:prstGeom prst="ellipse">
            <a:avLst/>
          </a:prstGeom>
          <a:solidFill>
            <a:srgbClr val="12879B"/>
          </a:solidFill>
          <a:ln/>
        </p:spPr>
      </p:sp>
      <p:sp>
        <p:nvSpPr>
          <p:cNvPr id="28" name="Text 26"/>
          <p:cNvSpPr/>
          <p:nvPr/>
        </p:nvSpPr>
        <p:spPr>
          <a:xfrm>
            <a:off x="1298448" y="3858768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Знання (референси скіла)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5596128" y="3858768"/>
            <a:ext cx="5852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66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метамоделі, мапінг control→компонент, каталог компонентів</a:t>
            </a:r>
            <a:endParaRPr lang="en-US" sz="1280" dirty="0"/>
          </a:p>
        </p:txBody>
      </p:sp>
      <p:sp>
        <p:nvSpPr>
          <p:cNvPr id="30" name="Shape 28"/>
          <p:cNvSpPr/>
          <p:nvPr/>
        </p:nvSpPr>
        <p:spPr>
          <a:xfrm>
            <a:off x="566928" y="4645152"/>
            <a:ext cx="11064240" cy="676656"/>
          </a:xfrm>
          <a:prstGeom prst="roundRect">
            <a:avLst>
              <a:gd name="adj" fmla="val 12162"/>
            </a:avLst>
          </a:prstGeom>
          <a:solidFill>
            <a:srgbClr val="E9EFF6"/>
          </a:solidFill>
          <a:ln/>
          <a:effectLst>
            <a:outerShdw sx="100000" sy="100000" kx="0" ky="0" algn="bl" rotWithShape="0" blurRad="114300" dist="38100" dir="5400000">
              <a:srgbClr val="0E2A47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31520" y="48006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1298448" y="4645152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Оркестрація (скіл)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5596128" y="4645152"/>
            <a:ext cx="5852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66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фази, approval-gate, рекурсія, reconcile, living-docs</a:t>
            </a:r>
            <a:endParaRPr lang="en-US" sz="1280" dirty="0"/>
          </a:p>
        </p:txBody>
      </p:sp>
      <p:sp>
        <p:nvSpPr>
          <p:cNvPr id="34" name="Shape 32"/>
          <p:cNvSpPr/>
          <p:nvPr/>
        </p:nvSpPr>
        <p:spPr>
          <a:xfrm>
            <a:off x="566928" y="5431536"/>
            <a:ext cx="11064240" cy="676656"/>
          </a:xfrm>
          <a:prstGeom prst="roundRect">
            <a:avLst>
              <a:gd name="adj" fmla="val 12162"/>
            </a:avLst>
          </a:prstGeom>
          <a:solidFill>
            <a:srgbClr val="F3F6FA"/>
          </a:solidFill>
          <a:ln/>
          <a:effectLst>
            <a:outerShdw sx="100000" sy="100000" kx="0" ky="0" algn="bl" rotWithShape="0" blurRad="114300" dist="38100" dir="5400000">
              <a:srgbClr val="0E2A47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31520" y="5586984"/>
            <a:ext cx="365760" cy="365760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36" name="Text 34"/>
          <p:cNvSpPr/>
          <p:nvPr/>
        </p:nvSpPr>
        <p:spPr>
          <a:xfrm>
            <a:off x="1298448" y="5431536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Write + Guardrails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5596128" y="5431536"/>
            <a:ext cx="5852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66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наявні clio-тули; лише в editable-пакет; declarative-first</a:t>
            </a:r>
            <a:endParaRPr lang="en-US" sz="12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ТЕХНІЧНО · ШАР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Читання Classic зі стенду (валідовано)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0E2A47"/>
          </a:solidFill>
          <a:ln/>
          <a:effectLst>
            <a:outerShdw sx="100000" sy="100000" kx="0" ky="0" algn="bl" rotWithShape="0" blurRad="114300" dist="38100" dir="5400000">
              <a:srgbClr val="0E2A47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146304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Механізм (той самий, що використовує дизайнер):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</a:rPr>
              <a:t>AuthService.svc/Login → ClientUnitSchemaDesignerService.svc/GetSchema (по UId)</a:t>
            </a:r>
            <a:endParaRPr lang="en-US" sz="1400" dirty="0"/>
          </a:p>
          <a:p>
            <a:pPr indent="0" marL="0">
              <a:buNone/>
            </a:pPr>
            <a:r>
              <a:rPr lang="en-US" sz="1300" i="1" dirty="0">
                <a:solidFill>
                  <a:srgbClr val="9FB2CC"/>
                </a:solidFill>
              </a:rPr>
              <a:t>Без install-gate, без SVN, без записів — працює на будь-якому стенді клієнта.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Нові MCP-тули в mcp-creatio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474720"/>
          <a:ext cx="1106424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73152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Тул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Що повертає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list-schema-layers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усі шари схеми + пакет/maintainer/editable, base→top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get-classic-schema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повне тіло шару: diff / businessRules / methods / attributes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get-effective-classic-schema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merged ефективна модель + provenance (звідки елемент)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resolve-migration-unit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граф ролей сторінок + рекурсія деталей + Freedom-аналоги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ТЕХНІЧНО · ШАР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Детермінований рушій: merge + mapper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5486400" cy="4572000"/>
          </a:xfrm>
          <a:prstGeom prst="roundRect">
            <a:avLst>
              <a:gd name="adj" fmla="val 1800"/>
            </a:avLst>
          </a:prstGeom>
          <a:solidFill>
            <a:srgbClr val="F3F6FA"/>
          </a:solidFill>
          <a:ln/>
          <a:effectLst>
            <a:outerShdw sx="100000" sy="100000" kx="0" ky="0" algn="bl" rotWithShape="0" blurRad="114300" dist="38100" dir="5400000">
              <a:srgbClr val="0E2A47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86968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86968" y="219456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30" dirty="0">
                <a:solidFill>
                  <a:srgbClr val="1E293B"/>
                </a:solidFill>
              </a:rPr>
              <a:t>N шарів (зірка-топологія) → ефективна сторінка</a:t>
            </a:r>
            <a:endParaRPr lang="en-US" sz="133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30" dirty="0">
                <a:solidFill>
                  <a:srgbClr val="1E293B"/>
                </a:solidFill>
              </a:rPr>
              <a:t>порядок із SysPackageInDependency</a:t>
            </a:r>
            <a:endParaRPr lang="en-US" sz="133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30" dirty="0">
                <a:solidFill>
                  <a:srgbClr val="1E293B"/>
                </a:solidFill>
              </a:rPr>
              <a:t>diff: insert/merge/move/remove; tombstones</a:t>
            </a:r>
            <a:endParaRPr lang="en-US" sz="133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30" dirty="0">
                <a:solidFill>
                  <a:srgbClr val="1E293B"/>
                </a:solidFill>
              </a:rPr>
              <a:t>дві системи правил → одна нормалізована модель</a:t>
            </a:r>
            <a:endParaRPr lang="en-US" sz="133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30" dirty="0">
                <a:solidFill>
                  <a:srgbClr val="1E293B"/>
                </a:solidFill>
              </a:rPr>
              <a:t>provenance: звідки елемент + чи editable (для A3/B6)</a:t>
            </a:r>
            <a:endParaRPr lang="en-US" sz="133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532120" cy="4572000"/>
          </a:xfrm>
          <a:prstGeom prst="roundRect">
            <a:avLst>
              <a:gd name="adj" fmla="val 1800"/>
            </a:avLst>
          </a:prstGeom>
          <a:solidFill>
            <a:srgbClr val="F3F6FA"/>
          </a:solidFill>
          <a:ln/>
          <a:effectLst>
            <a:outerShdw sx="100000" sy="100000" kx="0" ky="0" algn="bl" rotWithShape="0" blurRad="114300" dist="38100" dir="5400000">
              <a:srgbClr val="0E2A47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Mapper  (pure, без стенду)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0" y="219456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30" dirty="0">
                <a:solidFill>
                  <a:srgbClr val="1E293B"/>
                </a:solidFill>
              </a:rPr>
              <a:t>поле → 3 зв'язані правки (control + attribute + dataSource)</a:t>
            </a:r>
            <a:endParaRPr lang="en-US" sz="133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30" dirty="0">
                <a:solidFill>
                  <a:srgbClr val="1E293B"/>
                </a:solidFill>
              </a:rPr>
              <a:t>container-role mapping (профіль→side, вкладка→вкладка)</a:t>
            </a:r>
            <a:endParaRPr lang="en-US" sz="133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30" dirty="0">
                <a:solidFill>
                  <a:srgbClr val="1E293B"/>
                </a:solidFill>
              </a:rPr>
              <a:t>деталь → ПОВНИЙ композит «Expanded list»</a:t>
            </a:r>
            <a:endParaRPr lang="en-US" sz="133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30" dirty="0">
                <a:solidFill>
                  <a:srgbClr val="1E293B"/>
                </a:solidFill>
              </a:rPr>
              <a:t>декларативне правило → business-rule (+ обов'язкове зворотне)</a:t>
            </a:r>
            <a:endParaRPr lang="en-US" sz="133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30" dirty="0">
                <a:solidFill>
                  <a:srgbClr val="1E293B"/>
                </a:solidFill>
              </a:rPr>
              <a:t>імперативний метод → handler-заготовка</a:t>
            </a:r>
            <a:endParaRPr lang="en-US" sz="133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30" dirty="0">
                <a:solidFill>
                  <a:srgbClr val="1E293B"/>
                </a:solidFill>
              </a:rPr>
              <a:t>needs-decision[] → до агента</a:t>
            </a:r>
            <a:endParaRPr lang="en-US" sz="13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PoC: дві сторінки мігровано наскрізь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4663440"/>
                <a:gridCol w="3200400"/>
                <a:gridCol w="320040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Ось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SupportUnit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EmployeeScore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8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Поля / типи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lookup, boolean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number, datetime, multiline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8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Деталь + повний композит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80" dirty="0">
                          <a:solidFill>
                            <a:srgbClr val="0E9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80" dirty="0">
                          <a:solidFill>
                            <a:srgbClr val="6672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8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Рекурсія деталі (власна сторінка)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80" dirty="0">
                          <a:solidFill>
                            <a:srgbClr val="0E9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80" dirty="0">
                          <a:solidFill>
                            <a:srgbClr val="6672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8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Entity-rule (filtration)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80" dirty="0">
                          <a:solidFill>
                            <a:srgbClr val="0E9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80" dirty="0">
                          <a:solidFill>
                            <a:srgbClr val="6672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8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Page-rule (умовний state)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80" dirty="0">
                          <a:solidFill>
                            <a:srgbClr val="6672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required + зворотне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8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Структурне розміщення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80" dirty="0">
                          <a:solidFill>
                            <a:srgbClr val="0E9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80" dirty="0">
                          <a:solidFill>
                            <a:srgbClr val="0E9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8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Пакет / fallback без forms-auth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80" dirty="0">
                          <a:solidFill>
                            <a:srgbClr val="0E9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80" dirty="0">
                          <a:solidFill>
                            <a:srgbClr val="0E9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Дві незалежні сторінки разом покрили майже всі кейси B/C на живому стенді.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· ДЛЯ ІНЖЕНЕРІВ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уроків із живої практики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5440680" cy="932688"/>
          </a:xfrm>
          <a:prstGeom prst="roundRect">
            <a:avLst>
              <a:gd name="adj" fmla="val 8824"/>
            </a:avLst>
          </a:prstGeom>
          <a:solidFill>
            <a:srgbClr val="F3F6FA"/>
          </a:solidFill>
          <a:ln/>
          <a:effectLst>
            <a:outerShdw sx="100000" sy="100000" kx="0" ky="0" algn="bl" rotWithShape="0" blurRad="114300" dist="38100" dir="5400000">
              <a:srgbClr val="0E2A4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19656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196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81328" y="1600200"/>
            <a:ext cx="4389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create-app сторінки — статична форма body → replace, не append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6190488" y="1600200"/>
            <a:ext cx="5440680" cy="932688"/>
          </a:xfrm>
          <a:prstGeom prst="roundRect">
            <a:avLst>
              <a:gd name="adj" fmla="val 8824"/>
            </a:avLst>
          </a:prstGeom>
          <a:solidFill>
            <a:srgbClr val="E9EFF6"/>
          </a:solidFill>
          <a:ln/>
          <a:effectLst>
            <a:outerShdw sx="100000" sy="100000" kx="0" ky="0" algn="bl" rotWithShape="0" blurRad="114300" dist="38100" dir="5400000">
              <a:srgbClr val="0E2A47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28232" y="1819656"/>
            <a:ext cx="493776" cy="493776"/>
          </a:xfrm>
          <a:prstGeom prst="ellipse">
            <a:avLst/>
          </a:prstGeom>
          <a:solidFill>
            <a:srgbClr val="12879B"/>
          </a:solidFill>
          <a:ln/>
        </p:spPr>
      </p:sp>
      <p:sp>
        <p:nvSpPr>
          <p:cNvPr id="10" name="Text 8"/>
          <p:cNvSpPr/>
          <p:nvPr/>
        </p:nvSpPr>
        <p:spPr>
          <a:xfrm>
            <a:off x="6428232" y="18196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104888" y="1600200"/>
            <a:ext cx="4389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= InstallType=0, не Maintainer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566928" y="2679192"/>
            <a:ext cx="5440680" cy="932688"/>
          </a:xfrm>
          <a:prstGeom prst="roundRect">
            <a:avLst>
              <a:gd name="adj" fmla="val 8824"/>
            </a:avLst>
          </a:prstGeom>
          <a:solidFill>
            <a:srgbClr val="F3F6FA"/>
          </a:solidFill>
          <a:ln/>
          <a:effectLst>
            <a:outerShdw sx="100000" sy="100000" kx="0" ky="0" algn="bl" rotWithShape="0" blurRad="114300" dist="38100" dir="5400000">
              <a:srgbClr val="0E2A47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" y="2898648"/>
            <a:ext cx="493776" cy="4937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28986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81328" y="2679192"/>
            <a:ext cx="4389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page-rules = лише стан; FILTRATION → entity-level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6190488" y="2679192"/>
            <a:ext cx="5440680" cy="932688"/>
          </a:xfrm>
          <a:prstGeom prst="roundRect">
            <a:avLst>
              <a:gd name="adj" fmla="val 8824"/>
            </a:avLst>
          </a:prstGeom>
          <a:solidFill>
            <a:srgbClr val="E9EFF6"/>
          </a:solidFill>
          <a:ln/>
          <a:effectLst>
            <a:outerShdw sx="100000" sy="100000" kx="0" ky="0" algn="bl" rotWithShape="0" blurRad="114300" dist="38100" dir="5400000">
              <a:srgbClr val="0E2A47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28232" y="2898648"/>
            <a:ext cx="493776" cy="49377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8" name="Text 16"/>
          <p:cNvSpPr/>
          <p:nvPr/>
        </p:nvSpPr>
        <p:spPr>
          <a:xfrm>
            <a:off x="6428232" y="28986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104888" y="2679192"/>
            <a:ext cx="4389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рекурсія деталі реальна (деталь → власна сторінка)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566928" y="3758184"/>
            <a:ext cx="5440680" cy="932688"/>
          </a:xfrm>
          <a:prstGeom prst="roundRect">
            <a:avLst>
              <a:gd name="adj" fmla="val 8824"/>
            </a:avLst>
          </a:prstGeom>
          <a:solidFill>
            <a:srgbClr val="F3F6FA"/>
          </a:solidFill>
          <a:ln/>
          <a:effectLst>
            <a:outerShdw sx="100000" sy="100000" kx="0" ky="0" algn="bl" rotWithShape="0" blurRad="114300" dist="38100" dir="5400000">
              <a:srgbClr val="0E2A47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" y="3977640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39776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481328" y="3758184"/>
            <a:ext cx="4389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без forms-auth (create-app + entityPageName)</a:t>
            </a:r>
            <a:endParaRPr lang="en-US" sz="1320" dirty="0"/>
          </a:p>
        </p:txBody>
      </p:sp>
      <p:sp>
        <p:nvSpPr>
          <p:cNvPr id="24" name="Shape 22"/>
          <p:cNvSpPr/>
          <p:nvPr/>
        </p:nvSpPr>
        <p:spPr>
          <a:xfrm>
            <a:off x="6190488" y="3758184"/>
            <a:ext cx="5440680" cy="932688"/>
          </a:xfrm>
          <a:prstGeom prst="roundRect">
            <a:avLst>
              <a:gd name="adj" fmla="val 8824"/>
            </a:avLst>
          </a:prstGeom>
          <a:solidFill>
            <a:srgbClr val="E9EFF6"/>
          </a:solidFill>
          <a:ln/>
          <a:effectLst>
            <a:outerShdw sx="100000" sy="100000" kx="0" ky="0" algn="bl" rotWithShape="0" blurRad="114300" dist="38100" dir="5400000">
              <a:srgbClr val="0E2A47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28232" y="3977640"/>
            <a:ext cx="493776" cy="493776"/>
          </a:xfrm>
          <a:prstGeom prst="ellipse">
            <a:avLst/>
          </a:prstGeom>
          <a:solidFill>
            <a:srgbClr val="12879B"/>
          </a:solidFill>
          <a:ln/>
        </p:spPr>
      </p:sp>
      <p:sp>
        <p:nvSpPr>
          <p:cNvPr id="26" name="Text 24"/>
          <p:cNvSpPr/>
          <p:nvPr/>
        </p:nvSpPr>
        <p:spPr>
          <a:xfrm>
            <a:off x="6428232" y="39776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104888" y="3758184"/>
            <a:ext cx="4389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структурне збереження (container-role mapping)</a:t>
            </a:r>
            <a:endParaRPr lang="en-US" sz="1320" dirty="0"/>
          </a:p>
        </p:txBody>
      </p:sp>
      <p:sp>
        <p:nvSpPr>
          <p:cNvPr id="28" name="Shape 26"/>
          <p:cNvSpPr/>
          <p:nvPr/>
        </p:nvSpPr>
        <p:spPr>
          <a:xfrm>
            <a:off x="566928" y="4837176"/>
            <a:ext cx="5440680" cy="932688"/>
          </a:xfrm>
          <a:prstGeom prst="roundRect">
            <a:avLst>
              <a:gd name="adj" fmla="val 8824"/>
            </a:avLst>
          </a:prstGeom>
          <a:solidFill>
            <a:srgbClr val="F3F6FA"/>
          </a:solidFill>
          <a:ln/>
          <a:effectLst>
            <a:outerShdw sx="100000" sy="100000" kx="0" ky="0" algn="bl" rotWithShape="0" blurRad="114300" dist="38100" dir="5400000">
              <a:srgbClr val="0E2A47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04672" y="5056632"/>
            <a:ext cx="493776" cy="4937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804672" y="50566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481328" y="4837176"/>
            <a:ext cx="4389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аналіз повний ≠ зріз; рекурсія в схему деталі</a:t>
            </a:r>
            <a:endParaRPr lang="en-US" sz="1320" dirty="0"/>
          </a:p>
        </p:txBody>
      </p:sp>
      <p:sp>
        <p:nvSpPr>
          <p:cNvPr id="32" name="Shape 30"/>
          <p:cNvSpPr/>
          <p:nvPr/>
        </p:nvSpPr>
        <p:spPr>
          <a:xfrm>
            <a:off x="6190488" y="4837176"/>
            <a:ext cx="5440680" cy="932688"/>
          </a:xfrm>
          <a:prstGeom prst="roundRect">
            <a:avLst>
              <a:gd name="adj" fmla="val 8824"/>
            </a:avLst>
          </a:prstGeom>
          <a:solidFill>
            <a:srgbClr val="E9EFF6"/>
          </a:solidFill>
          <a:ln/>
          <a:effectLst>
            <a:outerShdw sx="100000" sy="100000" kx="0" ky="0" algn="bl" rotWithShape="0" blurRad="114300" dist="38100" dir="5400000">
              <a:srgbClr val="0E2A47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28232" y="5056632"/>
            <a:ext cx="493776" cy="49377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34" name="Text 32"/>
          <p:cNvSpPr/>
          <p:nvPr/>
        </p:nvSpPr>
        <p:spPr>
          <a:xfrm>
            <a:off x="6428232" y="50566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7104888" y="4837176"/>
            <a:ext cx="4389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деталь — за повним контрактом композита</a:t>
            </a:r>
            <a:endParaRPr lang="en-US" sz="13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ДОРОЖНЯ КАРТА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План: Ф0 → Ф6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Ф0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207008" y="1554480"/>
            <a:ext cx="5852160" cy="457200"/>
          </a:xfrm>
          <a:prstGeom prst="roundRect">
            <a:avLst>
              <a:gd name="adj" fmla="val 18000"/>
            </a:avLst>
          </a:prstGeom>
          <a:solidFill>
            <a:srgbClr val="F3F6FA"/>
          </a:solidFill>
          <a:ln/>
          <a:effectLst>
            <a:outerShdw sx="100000" sy="100000" kx="0" ky="0" algn="bl" rotWithShape="0" blurRad="114300" dist="38100" dir="5400000">
              <a:srgbClr val="0E2A47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435608" y="1554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Фундамент: нормалізована модель + фікстури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215798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157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Ф1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207008" y="2157984"/>
            <a:ext cx="5852160" cy="457200"/>
          </a:xfrm>
          <a:prstGeom prst="roundRect">
            <a:avLst>
              <a:gd name="adj" fmla="val 18000"/>
            </a:avLst>
          </a:prstGeom>
          <a:solidFill>
            <a:srgbClr val="E9EFF6"/>
          </a:solidFill>
          <a:ln/>
          <a:effectLst>
            <a:outerShdw sx="100000" sy="100000" kx="0" ky="0" algn="bl" rotWithShape="0" blurRad="114300" dist="38100" dir="5400000">
              <a:srgbClr val="0E2A47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435608" y="215798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Read-примітиви (MCP-тули)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276148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Ф2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207008" y="2761488"/>
            <a:ext cx="5852160" cy="457200"/>
          </a:xfrm>
          <a:prstGeom prst="roundRect">
            <a:avLst>
              <a:gd name="adj" fmla="val 18000"/>
            </a:avLst>
          </a:prstGeom>
          <a:solidFill>
            <a:srgbClr val="F3F6FA"/>
          </a:solidFill>
          <a:ln/>
          <a:effectLst>
            <a:outerShdw sx="100000" sy="100000" kx="0" ky="0" algn="bl" rotWithShape="0" blurRad="114300" dist="38100" dir="5400000">
              <a:srgbClr val="0E2A47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435608" y="276148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Merge-рушій (код) на golden-фікстурах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336499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Ф3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207008" y="3364992"/>
            <a:ext cx="5852160" cy="457200"/>
          </a:xfrm>
          <a:prstGeom prst="roundRect">
            <a:avLst>
              <a:gd name="adj" fmla="val 18000"/>
            </a:avLst>
          </a:prstGeom>
          <a:solidFill>
            <a:srgbClr val="E9EFF6"/>
          </a:solidFill>
          <a:ln/>
          <a:effectLst>
            <a:outerShdw sx="100000" sy="100000" kx="0" ky="0" algn="bl" rotWithShape="0" blurRad="114300" dist="38100" dir="5400000">
              <a:srgbClr val="0E2A47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435608" y="336499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Mapper (код) → 🎯 демо без запису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" y="3968496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Ф4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1207008" y="3968496"/>
            <a:ext cx="5852160" cy="457200"/>
          </a:xfrm>
          <a:prstGeom prst="roundRect">
            <a:avLst>
              <a:gd name="adj" fmla="val 18000"/>
            </a:avLst>
          </a:prstGeom>
          <a:solidFill>
            <a:srgbClr val="F3F6FA"/>
          </a:solidFill>
          <a:ln/>
          <a:effectLst>
            <a:outerShdw sx="100000" sy="100000" kx="0" ky="0" algn="bl" rotWithShape="0" blurRad="114300" dist="38100" dir="5400000">
              <a:srgbClr val="0E2A47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435608" y="396849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Оркестрація (скіл): ролі, рекурсія, reconcile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6928" y="457200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Ф5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1207008" y="4572000"/>
            <a:ext cx="5852160" cy="457200"/>
          </a:xfrm>
          <a:prstGeom prst="roundRect">
            <a:avLst>
              <a:gd name="adj" fmla="val 18000"/>
            </a:avLst>
          </a:prstGeom>
          <a:solidFill>
            <a:srgbClr val="E9EFF6"/>
          </a:solidFill>
          <a:ln/>
          <a:effectLst>
            <a:outerShdw sx="100000" sy="100000" kx="0" ky="0" algn="bl" rotWithShape="0" blurRad="114300" dist="38100" dir="5400000">
              <a:srgbClr val="0E2A47">
                <a:alpha val="1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435608" y="4572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Наскрізний пілот на стенді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66928" y="5175504"/>
            <a:ext cx="457200" cy="457200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29" name="Text 27"/>
          <p:cNvSpPr/>
          <p:nvPr/>
        </p:nvSpPr>
        <p:spPr>
          <a:xfrm>
            <a:off x="566928" y="5175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Ф6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1207008" y="5175504"/>
            <a:ext cx="5852160" cy="457200"/>
          </a:xfrm>
          <a:prstGeom prst="roundRect">
            <a:avLst>
              <a:gd name="adj" fmla="val 18000"/>
            </a:avLst>
          </a:prstGeom>
          <a:solidFill>
            <a:srgbClr val="F3F6FA"/>
          </a:solidFill>
          <a:ln/>
          <a:effectLst>
            <a:outerShdw sx="100000" sy="100000" kx="0" ky="0" algn="bl" rotWithShape="0" blurRad="114300" dist="38100" dir="5400000">
              <a:srgbClr val="0E2A47">
                <a:alpha val="1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435608" y="517550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Загартування + ширина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406640" y="1554480"/>
            <a:ext cx="4389120" cy="4480560"/>
          </a:xfrm>
          <a:prstGeom prst="roundRect">
            <a:avLst>
              <a:gd name="adj" fmla="val 1875"/>
            </a:avLst>
          </a:prstGeom>
          <a:solidFill>
            <a:srgbClr val="0E2A47"/>
          </a:solidFill>
          <a:ln/>
          <a:effectLst>
            <a:outerShdw sx="100000" sy="100000" kx="0" ky="0" algn="bl" rotWithShape="0" blurRad="114300" dist="38100" dir="5400000">
              <a:srgbClr val="0E2A47">
                <a:alpha val="1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680960" y="1783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Сходинка кейсів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680960" y="237744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1 · SupportUnit  ✓ (PoC)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2 · EmployeeScore  ✓ (PoC)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3 · Contracts — золотий складний еталон (9 шарів, типізовані правила, reconcile)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66928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6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до демо = Ф0→Ф3 (читання + merge + чернетка, без запису)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ДЕННИЙ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Ризики та рішення для обговорення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F3F6FA"/>
          </a:solidFill>
          <a:ln/>
          <a:effectLst>
            <a:outerShdw sx="100000" sy="100000" kx="0" ky="0" algn="bl" rotWithShape="0" blurRad="114300" dist="38100" dir="5400000">
              <a:srgbClr val="0E2A4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10512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298448" y="1737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шарів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2121408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брати з SysPackageInDependency, не з HierarchyLevel-проксі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90488" y="1554480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E9EFF6"/>
          </a:solidFill>
          <a:ln/>
          <a:effectLst>
            <a:outerShdw sx="100000" sy="100000" kx="0" ky="0" algn="bl" rotWithShape="0" blurRad="114300" dist="38100" dir="5400000">
              <a:srgbClr val="0E2A47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46520" y="1810512"/>
            <a:ext cx="310896" cy="310896"/>
          </a:xfrm>
          <a:prstGeom prst="ellipse">
            <a:avLst/>
          </a:prstGeom>
          <a:solidFill>
            <a:srgbClr val="12879B"/>
          </a:solidFill>
          <a:ln/>
        </p:spPr>
      </p:sp>
      <p:sp>
        <p:nvSpPr>
          <p:cNvPr id="10" name="Text 8"/>
          <p:cNvSpPr/>
          <p:nvPr/>
        </p:nvSpPr>
        <p:spPr>
          <a:xfrm>
            <a:off x="6922008" y="1737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Freedom↔entity binding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922008" y="2121408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читати з тіла сторінки (не ESQ-колонка)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017520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F3F6FA"/>
          </a:solidFill>
          <a:ln/>
          <a:effectLst>
            <a:outerShdw sx="100000" sy="100000" kx="0" ky="0" algn="bl" rotWithShape="0" blurRad="114300" dist="38100" dir="5400000">
              <a:srgbClr val="0E2A47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3273552"/>
            <a:ext cx="310896" cy="31089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1298448" y="3200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Custom-компоненти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98448" y="3584448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завжди рішення людини (аналог зі стандартних)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90488" y="3017520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E9EFF6"/>
          </a:solidFill>
          <a:ln/>
          <a:effectLst>
            <a:outerShdw sx="100000" sy="100000" kx="0" ky="0" algn="bl" rotWithShape="0" blurRad="114300" dist="38100" dir="5400000">
              <a:srgbClr val="0E2A47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6520" y="3273552"/>
            <a:ext cx="310896" cy="31089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8" name="Text 16"/>
          <p:cNvSpPr/>
          <p:nvPr/>
        </p:nvSpPr>
        <p:spPr>
          <a:xfrm>
            <a:off x="6922008" y="3200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Межа рушій / агент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22008" y="3584448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підтвердити: merge+mapper — код, а не робота LLM у контексті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4480560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F3F6FA"/>
          </a:solidFill>
          <a:ln/>
          <a:effectLst>
            <a:outerShdw sx="100000" sy="100000" kx="0" ky="0" algn="bl" rotWithShape="0" blurRad="114300" dist="38100" dir="5400000">
              <a:srgbClr val="0E2A47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4736592"/>
            <a:ext cx="310896" cy="310896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22" name="Text 20"/>
          <p:cNvSpPr/>
          <p:nvPr/>
        </p:nvSpPr>
        <p:spPr>
          <a:xfrm>
            <a:off x="1298448" y="4663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Дім mapper'а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98448" y="5047488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pure-модуль без стенду vs тул у mcp-creatio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90488" y="4480560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E9EFF6"/>
          </a:solidFill>
          <a:ln/>
          <a:effectLst>
            <a:outerShdw sx="100000" sy="100000" kx="0" ky="0" algn="bl" rotWithShape="0" blurRad="114300" dist="38100" dir="5400000">
              <a:srgbClr val="0E2A47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46520" y="4736592"/>
            <a:ext cx="310896" cy="310896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26" name="Text 24"/>
          <p:cNvSpPr/>
          <p:nvPr/>
        </p:nvSpPr>
        <p:spPr>
          <a:xfrm>
            <a:off x="6922008" y="4663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forms-auth сесія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22008" y="5047488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має fallback-шляхи (create-app + entityPageName)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4754880" cy="475488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НАСТУПНІ КРОКИ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15087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Куди рухаємось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66928" y="2743200"/>
            <a:ext cx="10515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→"/>
            </a:pPr>
            <a:r>
              <a:rPr lang="en-US" sz="1800" dirty="0">
                <a:solidFill>
                  <a:srgbClr val="FFFFFF"/>
                </a:solidFill>
              </a:rPr>
              <a:t>Звести уроки PoC у mapper-специфікацію дизайну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→"/>
            </a:pPr>
            <a:r>
              <a:rPr lang="en-US" sz="1800" dirty="0">
                <a:solidFill>
                  <a:srgbClr val="FFFFFF"/>
                </a:solidFill>
              </a:rPr>
              <a:t>Почати Ф2 — merge-рушій як код на golden-фікстурах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→"/>
            </a:pPr>
            <a:r>
              <a:rPr lang="en-US" sz="1800" dirty="0">
                <a:solidFill>
                  <a:srgbClr val="FFFFFF"/>
                </a:solidFill>
              </a:rPr>
              <a:t>Вирівняти межу «рушій / агент» і дім mapper'а з командою</a:t>
            </a:r>
            <a:endParaRPr lang="en-US" sz="1800" dirty="0"/>
          </a:p>
          <a:p>
            <a:pPr marL="342900" indent="-342900">
              <a:buSzPct val="100000"/>
              <a:buChar char="→"/>
            </a:pPr>
            <a:r>
              <a:rPr lang="en-US" sz="1800" dirty="0">
                <a:solidFill>
                  <a:srgbClr val="FFFFFF"/>
                </a:solidFill>
              </a:rPr>
              <a:t>Далі — Contracts як золотий складний еталон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66928" y="6217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Документи: .migration/solution-scope.md · solution-design.md · poc/worklog.md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Classic → Freedom UI — Architecture</dc:title>
  <dc:subject>PptxGenJS Presentation</dc:subject>
  <dc:creator>Kateryna Bondarenko</dc:creator>
  <cp:lastModifiedBy>Kateryna Bondarenko</cp:lastModifiedBy>
  <cp:revision>1</cp:revision>
  <dcterms:created xsi:type="dcterms:W3CDTF">2026-07-09T15:11:26Z</dcterms:created>
  <dcterms:modified xsi:type="dcterms:W3CDTF">2026-07-09T15:11:26Z</dcterms:modified>
</cp:coreProperties>
</file>